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d-hero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69494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0"/>
            <a:ext cx="320040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66928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4EA1FF"/>
                </a:solidFill>
                <a:latin typeface="Calibri"/>
              </a:rPr>
              <a:t>ХАКАТОН «ЦИФРОВОЙ РУДНИК НА OPENEGIZ»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760720" cy="12801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Карьер NETA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5669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0">
                <a:solidFill>
                  <a:srgbClr val="E6EDF3"/>
                </a:solidFill>
                <a:latin typeface="Calibri"/>
              </a:rPr>
              <a:t>Живой цифровой двойник медного карьера:
диспетчер · негабарит · допуск после взрыва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3891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21945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OpenEgiz v1.0.3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480560"/>
            <a:ext cx="29260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MIT · make pit · порт 8095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54864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Команда NETA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01 · 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Что решаем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Один связный карьер, три глубоких модуля с замером эффекта на стенде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611880" cy="73152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FB020"/>
                </a:solidFill>
                <a:latin typeface="Calibri"/>
              </a:rPr>
              <a:t>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108960" cy="20116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E6EDF3"/>
                </a:solidFill>
                <a:latin typeface="Calibri"/>
              </a:rPr>
              <a:t>Очереди самосвалов, зависания дробилки,
долгий и небезопасный допуск после взрыва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11880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4EA1FF"/>
                </a:solidFill>
                <a:latin typeface="Calibri"/>
              </a:rPr>
              <a:t>Решение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3108960" cy="20116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E6EDF3"/>
                </a:solidFill>
                <a:latin typeface="Calibri"/>
              </a:rPr>
              <a:t>Цифровой двойник на OpenEgiz:
симулятор → MQTT → Ditto → UI / Grafana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3611880" cy="73152"/>
          </a:xfrm>
          <a:prstGeom prst="rect">
            <a:avLst/>
          </a:prstGeom>
          <a:solidFill>
            <a:srgbClr val="3CC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31089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3CCF7A"/>
                </a:solidFill>
                <a:latin typeface="Calibri"/>
              </a:rPr>
              <a:t>Доказательство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06040"/>
            <a:ext cx="3108960" cy="20116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E6EDF3"/>
                </a:solidFill>
                <a:latin typeface="Calibri"/>
              </a:rPr>
              <a:t>Режим А (модули выкл.) vs Б (вкл.):
+12 % тоннажа за смену, 0 небезопасных входов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02 ·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Карьер как 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Параметры из паспортов техники и открытых источников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108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4EA1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самосвалов Cat 793F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221 т · 4 354 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108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4EA1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экскаватора EX5600-6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вскрыша + руда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3108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4EA1FF"/>
                </a:solidFill>
                <a:latin typeface="Calibri"/>
              </a:rPr>
              <a:t>165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глубина карьера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этапы −195…−255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77640"/>
            <a:ext cx="3108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4EA1FF"/>
                </a:solidFill>
                <a:latin typeface="Calibri"/>
              </a:rPr>
              <a:t>12 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смена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взрыв в 06:00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033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77640"/>
            <a:ext cx="3108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4EA1FF"/>
                </a:solidFill>
                <a:latin typeface="Calibri"/>
              </a:rPr>
              <a:t>0,35 %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7200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содержание 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3776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извлечение 88 %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977640"/>
            <a:ext cx="3108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4EA1FF"/>
                </a:solidFill>
                <a:latin typeface="Calibri"/>
              </a:rPr>
              <a:t>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7200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двойников в Ditto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93776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neta.pit:*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03 ·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Данные идут через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Не отдельное приложение «для галочки», а поток MQTT → Ditto →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4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6400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240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Симулятор
pit-live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2240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Calibri"/>
              </a:rPr>
              <a:t>Discrete-event
смена × speedup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06324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4EA1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48840"/>
            <a:ext cx="6400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926080"/>
            <a:ext cx="2240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MQTT
Mosquitto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840480"/>
            <a:ext cx="2240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Calibri"/>
              </a:rPr>
              <a:t>Телеметрия
и команды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06324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4EA1FF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8288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148840"/>
            <a:ext cx="6400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26080"/>
            <a:ext cx="2240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Eclipse
Ditto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840480"/>
            <a:ext cx="2240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Calibri"/>
              </a:rPr>
              <a:t>36 двойников
neta.pit:*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06324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4EA1FF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8288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2148840"/>
            <a:ext cx="6400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926080"/>
            <a:ext cx="2240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UI 8095
+ Grafana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840480"/>
            <a:ext cx="22402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Calibri"/>
              </a:rPr>
              <a:t>SSE / InfluxDB
карта и 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12080"/>
            <a:ext cx="1115568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Сервисы поверх Ditto: dispatcher-01 · crusher-guard-01 · blast-control-01 · advisor-01
Режимы А/Б и сценарии «что если» — свойства двойников control-01 / whatif-01.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04 · МОДУЛИ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Три модуля, один карьер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Каждый модуль: проблема → решение → метрика → замер на стенде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611880" cy="9144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4EA1FF"/>
                </a:solidFill>
                <a:latin typeface="Calibri"/>
              </a:rPr>
              <a:t>М1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1089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Диспетчеризация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10896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LP-сервис vs фиксированный
раздел 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310896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8B949E"/>
                </a:solidFill>
                <a:latin typeface="Calibri"/>
              </a:rPr>
              <a:t>ЭФФЕКТ vs 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3108960" cy="7772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4EA1FF"/>
                </a:solidFill>
                <a:latin typeface="Calibri"/>
              </a:rPr>
              <a:t>+1 642 т/смену
(+3,0 %)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310896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E6EDF3"/>
                </a:solidFill>
                <a:latin typeface="Calibri"/>
              </a:rPr>
              <a:t>очередь 11,8 → 9,5 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9164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91640"/>
            <a:ext cx="3611880" cy="914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6596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FFB020"/>
                </a:solidFill>
                <a:latin typeface="Calibri"/>
              </a:rPr>
              <a:t>М2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1089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Негабарит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80360"/>
            <a:ext cx="310896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Камера + гидромолот
до зависания дробилки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40480"/>
            <a:ext cx="310896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8B949E"/>
                </a:solidFill>
                <a:latin typeface="Calibri"/>
              </a:rPr>
              <a:t>ЭФФЕКТ vs 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3108960" cy="7772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FB020"/>
                </a:solidFill>
                <a:latin typeface="Calibri"/>
              </a:rPr>
              <a:t>простой 23 → 1 мин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74920"/>
            <a:ext cx="310896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E6EDF3"/>
                </a:solidFill>
                <a:latin typeface="Calibri"/>
              </a:rPr>
              <a:t>−22 мин простоя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69164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691640"/>
            <a:ext cx="3611880" cy="91440"/>
          </a:xfrm>
          <a:prstGeom prst="rect">
            <a:avLst/>
          </a:prstGeom>
          <a:solidFill>
            <a:srgbClr val="3CC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965960"/>
            <a:ext cx="31089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3CCF7A"/>
                </a:solidFill>
                <a:latin typeface="Calibri"/>
              </a:rPr>
              <a:t>М3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286000"/>
            <a:ext cx="31089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Допуск после взрыва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880360"/>
            <a:ext cx="310896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Дрон 24 ячейки vs
ручной замер ВГСЧ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840480"/>
            <a:ext cx="310896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8B949E"/>
                </a:solidFill>
                <a:latin typeface="Calibri"/>
              </a:rPr>
              <a:t>ЭФФЕКТ vs 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114800"/>
            <a:ext cx="3108960" cy="7772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3CCF7A"/>
                </a:solidFill>
                <a:latin typeface="Calibri"/>
              </a:rPr>
              <a:t>+4 310 т/смену
(+7,8 %)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074920"/>
            <a:ext cx="310896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E6EDF3"/>
                </a:solidFill>
                <a:latin typeface="Calibri"/>
              </a:rPr>
              <a:t>0 небезопасных входов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05 · ЗАМЕР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А vs Б: 30 смен × 12 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Одинаковые seeds 1…30 — сравнение в равных условиях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73152" cy="1325880"/>
          </a:xfrm>
          <a:prstGeom prst="rect">
            <a:avLst/>
          </a:prstGeom>
          <a:solidFill>
            <a:srgbClr val="3CC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64792"/>
            <a:ext cx="338328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Тоннаж за смену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39112"/>
            <a:ext cx="33832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+6 650 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60320"/>
            <a:ext cx="338328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+12,1 % к режиму 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3258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38328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Медь в руде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3832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+12,5 т 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560320"/>
            <a:ext cx="338328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≈ +119 тыс. USD / смену*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600200"/>
            <a:ext cx="3657600" cy="132588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600200"/>
            <a:ext cx="73152" cy="132588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764792"/>
            <a:ext cx="338328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Безопасность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039112"/>
            <a:ext cx="33832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0 входов в газ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560320"/>
            <a:ext cx="338328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доля небезопасных 0,20 → 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200400"/>
          <a:ext cx="111556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011680"/>
                <a:gridCol w="228600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Конфиг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т/смену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Руда, т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Простой др., мин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Забой закр., мин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А · все выкл.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55 025 ± 2 592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19 508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М1 · диспетчер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56 667 (+3 %)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21 746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М2 · камера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55 366 (+0,6 %)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20 086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М3 · дрон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59 335 (+7,8 %)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20 598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Б · все вкл.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61 676 (+12 %)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23 582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* 9 500 USD/т Cu (LME 2025, диапазон 9–10 тыс.). Команда: make pit-experiment SHIFTS=30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06 · ВИЗУАЛИЗАЦИЯ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2D-карта карьера в реальном времени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Движение техники из двойников Ditto (SSE), не из локальной базы</a:t>
            </a:r>
          </a:p>
        </p:txBody>
      </p:sp>
      <p:pic>
        <p:nvPicPr>
          <p:cNvPr id="6" name="Picture 5" descr="h-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06 · ВИЗУАЛИЗАЦИЯ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3D-вид: забои, рампы, отвалы, дробилка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Тот же поток двойников, что и на 2D-карте</a:t>
            </a:r>
          </a:p>
        </p:txBody>
      </p:sp>
      <p:pic>
        <p:nvPicPr>
          <p:cNvPr id="6" name="Picture 5" descr="3d-hero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6949440" cy="4480560"/>
          </a:xfrm>
          <a:prstGeom prst="rect">
            <a:avLst/>
          </a:prstGeom>
        </p:spPr>
      </p:pic>
      <p:pic>
        <p:nvPicPr>
          <p:cNvPr id="7" name="Picture 6" descr="3d-shovel-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508760"/>
            <a:ext cx="42976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07 · СЦЕНАРИИ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«Что если» на живом стенде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Тумблеры whatif-01 меняют условия сразу; А/Б сравниваются на тех же seeds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560320"/>
                <a:gridCol w="256032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Сценарий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А, т/смену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Б, т/смену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Б − А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База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57 054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63 577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+6 523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Встал shovel-01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20 569 (−64 %)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34 023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+13 453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3 самосвала в ремонте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37 806 (−34 %)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51 558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+13 752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Плохой взрыв (x50 0,30 м)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52 213 (−8 %)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60 054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+7 841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Штиль при взрыве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44 150 (−23 %)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42 048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−2 102*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Карьер +6 лет (−255 м)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51 164 (−10 %)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58 002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+6 838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* При штиле дрон ждёт ниже ПДК и не пускает раньше закона (≥ 30 мин) — тоннаж чуть ниже, зато 0 мин в газе выше ПДК (режим А: 20,7 мин).
Также: дождь, закрытие дороги на отвал, остановка дробилки/фабрики, бульдозер.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08 · ДОСТОВЕРНОСТЬ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Калибровка по паспортам и полевым данным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openpit.validate — 10 смен, режим 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556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194560"/>
                <a:gridCol w="292608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Реальный диапазон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949E"/>
                          </a:solidFill>
                          <a:latin typeface="Calibri"/>
                        </a:rPr>
                        <a:t>Вердикт</a:t>
                      </a:r>
                    </a:p>
                  </a:txBody>
                  <a:tcPr>
                    <a:solidFill>
                      <a:srgbClr val="1A23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Скорость на рампе 10 %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12,9 км/ч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12,0 – 12,9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на границе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Число ковшей (221 т)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4 – 5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в диапазоне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Загрузка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2,75 мин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2,5 – 3,1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в диапазоне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Разгрузка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1,10 мин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1,0 – 2,25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в диапазоне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Расход дизеля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149 л/ч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121 – 240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в диапазоне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Удельный расход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0,28 л/т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0,25 – 0,42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в диапазоне</a:t>
                      </a:r>
                    </a:p>
                  </a:txBody>
                  <a:tcPr>
                    <a:solidFill>
                      <a:srgbClr val="11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6EDF3"/>
                          </a:solidFill>
                          <a:latin typeface="Calibri"/>
                        </a:rPr>
                        <a:t>Эффективное время смены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8,3 ч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6,6 – 9,0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6EDF3"/>
                          </a:solidFill>
                          <a:latin typeface="Calibri"/>
                        </a:rPr>
                        <a:t>в диапазоне</a:t>
                      </a:r>
                    </a:p>
                  </a:txBody>
                  <a:tcPr>
                    <a:solidFill>
                      <a:srgbClr val="161C2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49240"/>
            <a:ext cx="1115568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Источники: Cat 793F Specalog / Performance Handbook; Hitachi EX5600-6; ПБ 13-407-01; GN 2.2.5.3532-18 (ПДК CO/NO₂);
KAZ Minerals (Aktogay/Bozshakol) — содержание и извлечение; LME — цена меди.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4EA1FF"/>
                </a:solidFill>
                <a:latin typeface="Calibri"/>
              </a:rPr>
              <a:t>09 · ЗАПУСК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Судья поднимает стенд по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Calibri"/>
              </a:rPr>
              <a:t>Чистая Ubuntu 24.04 · Docker · без ручных шагов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7132320" cy="41148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6400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4EA1FF"/>
                </a:solidFill>
                <a:latin typeface="Calibri"/>
              </a:rPr>
              <a:t>Команды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0">
                <a:solidFill>
                  <a:srgbClr val="3CCF7A"/>
                </a:solidFill>
                <a:latin typeface="Consolas"/>
              </a:rPr>
              <a:t>git clone &lt;repo&gt; &amp;&amp; cd openegiz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3CCF7A"/>
                </a:solidFill>
                <a:latin typeface="Consolas"/>
              </a:rPr>
              <a:t>cp deploy/compose/.env.example deploy/compose/.env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3CCF7A"/>
                </a:solidFill>
                <a:latin typeface="Consolas"/>
              </a:rPr>
              <a:t>make pit          # платформа + карьер (~1–2 мин)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3CCF7A"/>
                </a:solidFill>
                <a:latin typeface="Consolas"/>
              </a:rPr>
              <a:t>open http://127.0.0.1:8095/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3CCF7A"/>
                </a:solidFill>
                <a:latin typeface="Consolas"/>
              </a:rPr>
              <a:t>make pit-experiment SHIFTS=30   # таблица А/Б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9164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828800"/>
            <a:ext cx="32004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075688"/>
            <a:ext cx="32004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http://127.0.0.1:8095/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69748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2834640"/>
            <a:ext cx="32004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Ditto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081528"/>
            <a:ext cx="32004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http://127.0.0.1:8081/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70332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840480"/>
            <a:ext cx="32004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Grafana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087368"/>
            <a:ext cx="32004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http://127.0.0.1:3000/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70916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4846320"/>
            <a:ext cx="32004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Лицензия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093208"/>
            <a:ext cx="32004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8B949E"/>
                </a:solidFill>
                <a:latin typeface="Calibri"/>
              </a:rPr>
              <a:t>Карьер NETA · OpenEgiz v1.0.3 · 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463040" cy="228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100" b="0">
                <a:solidFill>
                  <a:srgbClr val="8B949E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4EA1FF"/>
                </a:solidFill>
                <a:latin typeface="Calibri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115568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Один карьер. Три модуля. Доказанный эффект.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CCF7A"/>
                </a:solidFill>
                <a:latin typeface="Calibri"/>
              </a:rPr>
              <a:t>▸  </a:t>
            </a:r>
            <a:r>
              <a:rPr sz="1800" b="0">
                <a:solidFill>
                  <a:srgbClr val="E6EDF3"/>
                </a:solidFill>
                <a:latin typeface="Calibri"/>
              </a:rPr>
              <a:t>+12 % тоннажа за смену при включённых модулях (Б vs А, n=30)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3CCF7A"/>
                </a:solidFill>
                <a:latin typeface="Calibri"/>
              </a:rPr>
              <a:t>▸  </a:t>
            </a:r>
            <a:r>
              <a:rPr sz="1800" b="0">
                <a:solidFill>
                  <a:srgbClr val="E6EDF3"/>
                </a:solidFill>
                <a:latin typeface="Calibri"/>
              </a:rPr>
              <a:t>0 небезопасных входов в газ; простой дробилки −17 мин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3CCF7A"/>
                </a:solidFill>
                <a:latin typeface="Calibri"/>
              </a:rPr>
              <a:t>▸  </a:t>
            </a:r>
            <a:r>
              <a:rPr sz="1800" b="0">
                <a:solidFill>
                  <a:srgbClr val="E6EDF3"/>
                </a:solidFill>
                <a:latin typeface="Calibri"/>
              </a:rPr>
              <a:t>36 двойников Ditto, живая 2D/3D-карта, Grafana, сценарии «что если»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3CCF7A"/>
                </a:solidFill>
                <a:latin typeface="Calibri"/>
              </a:rPr>
              <a:t>▸  </a:t>
            </a:r>
            <a:r>
              <a:rPr sz="1800" b="0">
                <a:solidFill>
                  <a:srgbClr val="E6EDF3"/>
                </a:solidFill>
                <a:latin typeface="Calibri"/>
              </a:rPr>
              <a:t>Запуск: make pit → http://127.0.0.1:8095/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Спасибо · команда NETA · OpenEgiz v1.0.3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